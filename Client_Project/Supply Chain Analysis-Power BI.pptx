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269" r:id="rId6"/>
    <p:sldId id="270" r:id="rId7"/>
    <p:sldId id="271" r:id="rId8"/>
    <p:sldId id="267" r:id="rId9"/>
    <p:sldId id="277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79" r:id="rId19"/>
    <p:sldId id="289" r:id="rId20"/>
    <p:sldId id="290" r:id="rId21"/>
    <p:sldId id="278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500" userDrawn="1">
          <p15:clr>
            <a:srgbClr val="A4A3A4"/>
          </p15:clr>
        </p15:guide>
        <p15:guide id="8" pos="49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2752"/>
    <a:srgbClr val="E3A097"/>
    <a:srgbClr val="F5D9D7"/>
    <a:srgbClr val="263025"/>
    <a:srgbClr val="334031"/>
    <a:srgbClr val="8A9161"/>
    <a:srgbClr val="81875A"/>
    <a:srgbClr val="000000"/>
    <a:srgbClr val="EFE0BE"/>
    <a:srgbClr val="F7F1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pos="3840"/>
        <p:guide orient="horz" pos="2500"/>
        <p:guide pos="495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2621" y="6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8B8B31-1CFE-4A78-A796-40061C1B29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5D168-A009-4B34-B08F-277E0D6ABD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47A4C-1800-412B-9042-C93F1924AEC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C826E-30C5-4DD2-97CD-F700F8EBBF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BE32A-EDDE-428D-8FA7-84F681D97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1FD62-43B6-432F-96E1-BCDE3916E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83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4/19/2026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95266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10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16474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F0300-1E4A-850C-132A-5A3DD865C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50276A-3E72-F197-C4A0-C07674000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6540D-A7EC-8DBB-0A0F-7064E2B3B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A7216-1DF1-29C8-4052-7A5BCD90B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12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69840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718D-14C5-85C5-252F-BA0E69B58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36391-20CB-63C1-ED48-6D78AE560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297F7-ED6C-42F6-01F3-EFDDDAAE5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65FBC-FAFF-9C5C-7864-CC4ADA3CF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14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8568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804672"/>
            <a:ext cx="10460736" cy="3255264"/>
          </a:xfrm>
        </p:spPr>
        <p:txBody>
          <a:bodyPr anchor="b">
            <a:noAutofit/>
          </a:bodyPr>
          <a:lstStyle>
            <a:lvl1pPr algn="ctr">
              <a:defRPr sz="72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3081573" y="4526280"/>
            <a:ext cx="6028854" cy="91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0" i="0" cap="all" spc="30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23959E-C8AF-2C32-A4AC-D79C711CACEF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991AA11-ABBF-BFA0-AACD-5E0262702116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CB6BE39-5971-4916-1DD7-91D7C3F312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CD84773-7D11-C9D4-A19C-4265A176EB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229" y="853333"/>
            <a:ext cx="4920342" cy="5151334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200000"/>
              </a:lnSpc>
              <a:buNone/>
              <a:defRPr lang="en-US" sz="1600" kern="1200" cap="all" spc="30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7429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6573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21145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C2FAC39-06DA-FEF0-2302-B02B7C1CD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244C766-4DBD-CE50-9374-1427F1FAE8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0B4AC9CD-0374-4BE7-8481-7982C4A3E9D1}" type="datetime1">
              <a:rPr lang="en-US" smtClean="0"/>
              <a:t>4/19/2026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826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4"/>
            <a:ext cx="4844142" cy="5151334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02CFA45-BBBD-162A-70AD-0B37540578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D2915-BBAC-A1F0-BC9D-D3EBE576B6CA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1F310B-7369-4DED-0D01-CE0B2057D9A2}"/>
              </a:ext>
            </a:extLst>
          </p:cNvPr>
          <p:cNvCxnSpPr>
            <a:cxnSpLocks/>
          </p:cNvCxnSpPr>
          <p:nvPr/>
        </p:nvCxnSpPr>
        <p:spPr>
          <a:xfrm flipV="1">
            <a:off x="6096000" y="6281057"/>
            <a:ext cx="0" cy="249918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F80554-A5C0-4DF5-30C7-E8509F4304C5}"/>
              </a:ext>
            </a:extLst>
          </p:cNvPr>
          <p:cNvCxnSpPr>
            <a:cxnSpLocks/>
          </p:cNvCxnSpPr>
          <p:nvPr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72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A9154-5D3B-2CDD-4D46-FD8867EFC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228" y="853333"/>
            <a:ext cx="4997631" cy="515133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24DDF44-6A4A-DA03-A8BE-598DC99E8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7F1B34D-5253-5267-DEAA-572BCF19B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222400DF-651A-4479-9C74-9CDA47151016}" type="datetime1">
              <a:rPr lang="en-US" smtClean="0"/>
              <a:t>4/19/2026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23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4"/>
            <a:ext cx="4844142" cy="3939646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4F555129-A180-DABF-24A6-1FBDA958D7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5029200"/>
            <a:ext cx="4844143" cy="1169761"/>
          </a:xfrm>
        </p:spPr>
        <p:txBody>
          <a:bodyPr anchor="b">
            <a:normAutofit/>
          </a:bodyPr>
          <a:lstStyle>
            <a:lvl1pPr marL="0" indent="0" algn="l">
              <a:buNone/>
              <a:defRPr sz="1800" b="0" i="0" cap="all" spc="30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E309519-3E22-556C-E01C-12137A86C9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D2915-BBAC-A1F0-BC9D-D3EBE576B6CA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1F310B-7369-4DED-0D01-CE0B2057D9A2}"/>
              </a:ext>
            </a:extLst>
          </p:cNvPr>
          <p:cNvCxnSpPr>
            <a:cxnSpLocks/>
          </p:cNvCxnSpPr>
          <p:nvPr/>
        </p:nvCxnSpPr>
        <p:spPr>
          <a:xfrm flipV="1">
            <a:off x="6096000" y="6281057"/>
            <a:ext cx="0" cy="249918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F80554-A5C0-4DF5-30C7-E8509F4304C5}"/>
              </a:ext>
            </a:extLst>
          </p:cNvPr>
          <p:cNvCxnSpPr>
            <a:cxnSpLocks/>
          </p:cNvCxnSpPr>
          <p:nvPr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93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567DDB1-50BA-053F-5044-13CD972E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0F5E438-B3C9-C45F-E900-E6E1E3E8DB1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3813681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9656" y="850392"/>
            <a:ext cx="4844144" cy="54041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79B0408-F353-B756-0CA4-644E881D1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D520D91-492B-A641-A848-BEB3248265F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1201FEBF-D140-4633-9B70-3A503CA61AD4}" type="datetime1">
              <a:rPr lang="en-US" smtClean="0"/>
              <a:t>4/19/2026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0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D9AFCA-1D1A-D583-A3C7-F086816A23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4606A35E-DBB6-E5DF-F837-92E894DDB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899541C-E35F-E909-EAA3-7931F9A15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813682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DB7DBB6-A2E9-1B6C-7928-330959C4624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D560E12-0714-B7BE-9ED4-842720026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846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8BA9668-A78D-632D-FE8F-C62FE04F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813682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7C70689-88FA-027C-9354-13057024FA9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55228" y="853334"/>
            <a:ext cx="4898571" cy="515133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C0568B-88EF-9F5A-D39D-8C9C4C573B4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A0033C0F-A5E1-BC81-421E-44E417A29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EBBC30C-0776-B059-2CBB-EE2982ECB7D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B63BE472-3891-4216-B770-F52E53667131}" type="datetime1">
              <a:rPr lang="en-US" smtClean="0"/>
              <a:t>4/19/2026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875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E7B972-F1A2-D06A-182F-39D29608A6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7521" y="3880757"/>
            <a:ext cx="4844142" cy="21231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6484A33-80F1-829D-3F76-3176D5B8D51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9658" y="850392"/>
            <a:ext cx="4844142" cy="515353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E3E568F1-97D8-9686-E47A-F520BE6B13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274116E6-D006-0D1F-861D-2B50A4E1D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92C9618A-2189-4802-BD34-F288EF802528}" type="datetime1">
              <a:rPr lang="en-US" smtClean="0"/>
              <a:t>4/19/2026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38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E0AD4BE-B150-7C27-72CC-9AAE5D78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0AFDFBEE-19C9-1F3E-D9C5-CE7C9A3CDE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7520" y="2651758"/>
            <a:ext cx="10515601" cy="34667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94F3BC-3534-81A8-CF89-6C667BDFE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AD02BD2-09CD-274D-9F5F-AD0DCD9B1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F9880A97-BB72-4C49-B020-C005FF9D43B4}" type="datetime1">
              <a:rPr lang="en-US" smtClean="0"/>
              <a:t>4/19/2026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902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2167821"/>
            <a:ext cx="8783638" cy="2522359"/>
          </a:xfrm>
        </p:spPr>
        <p:txBody>
          <a:bodyPr anchor="ctr">
            <a:noAutofit/>
          </a:bodyPr>
          <a:lstStyle>
            <a:lvl1pPr algn="ctr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DACFE4-8E78-B00D-57EB-B4DF9B274276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F81E591-3873-6FE4-95EB-DA604EDF9EBC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A7C9956-6C25-EB39-6997-F949957C62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88B0979-92D8-B3DF-EEC8-6ACC5604FA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2610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8BA9668-A78D-632D-FE8F-C62FE04F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0DA40DDB-ECC4-BF05-805D-56550EB8CB9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7521" y="3813681"/>
            <a:ext cx="4844142" cy="218831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7C70689-88FA-027C-9354-13057024FA9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55228" y="853334"/>
            <a:ext cx="4898571" cy="5151334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7472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73152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73152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09728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C0568B-88EF-9F5A-D39D-8C9C4C573B4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4585FEF-898A-BE20-0E49-7060E3A08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CAC8CAA-7BE1-C6AD-8CAA-7EF23C3F385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8B1E16E5-E5E5-4583-9AF7-83D9607A8145}" type="datetime1">
              <a:rPr lang="en-US" smtClean="0"/>
              <a:t>4/19/2026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972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505" y="1013460"/>
            <a:ext cx="8682990" cy="2230802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505" y="3429000"/>
            <a:ext cx="8682989" cy="2230802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200000"/>
              </a:lnSpc>
              <a:buNone/>
              <a:defRPr lang="en-US" sz="1600" kern="1200" cap="all" spc="30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7429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6573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21145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754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3CA3B387-33D3-4D27-BE27-9B85ACC6AC8A}" type="datetime1">
              <a:rPr lang="en-US" smtClean="0"/>
              <a:t>4/19/2026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608E0E-05B9-F221-80C3-04CA4E4ABA35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D2231DE-625E-E718-1111-43464C19E14D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C307328-46EA-E83E-5BCB-1C57369D3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603F6C5-78F9-FA16-B62C-389A70997B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96" r:id="rId2"/>
    <p:sldLayoutId id="2147483718" r:id="rId3"/>
    <p:sldLayoutId id="2147483712" r:id="rId4"/>
    <p:sldLayoutId id="2147483719" r:id="rId5"/>
    <p:sldLayoutId id="2147483705" r:id="rId6"/>
    <p:sldLayoutId id="2147483713" r:id="rId7"/>
    <p:sldLayoutId id="2147483699" r:id="rId8"/>
    <p:sldLayoutId id="2147483716" r:id="rId9"/>
    <p:sldLayoutId id="2147483702" r:id="rId10"/>
    <p:sldLayoutId id="2147483714" r:id="rId11"/>
    <p:sldLayoutId id="2147483720" r:id="rId12"/>
    <p:sldLayoutId id="214748370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pos="302" userDrawn="1">
          <p15:clr>
            <a:srgbClr val="F26B43"/>
          </p15:clr>
        </p15:guide>
        <p15:guide id="10" pos="73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857963-8D3D-4F24-B535-54652EE09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804672"/>
            <a:ext cx="10460736" cy="3255264"/>
          </a:xfrm>
        </p:spPr>
        <p:txBody>
          <a:bodyPr anchor="b"/>
          <a:lstStyle/>
          <a:p>
            <a:r>
              <a:rPr lang="en-US" dirty="0"/>
              <a:t>Supply Chain Analysis-Power BI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3514F-9C9F-4868-A7D9-66CAA07E61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4799" y="4299284"/>
            <a:ext cx="6128657" cy="114139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00"/>
                </a:solidFill>
              </a:rPr>
              <a:t>Name : </a:t>
            </a:r>
            <a:r>
              <a:rPr lang="en-US" sz="2000" b="1" dirty="0"/>
              <a:t>jenihelan M</a:t>
            </a:r>
          </a:p>
          <a:p>
            <a:pPr algn="l"/>
            <a:r>
              <a:rPr lang="en-IN" sz="2000" b="1" dirty="0">
                <a:solidFill>
                  <a:srgbClr val="FFFF00"/>
                </a:solidFill>
              </a:rPr>
              <a:t>Project id: </a:t>
            </a:r>
            <a:r>
              <a:rPr lang="en-IN" sz="2000" b="1" dirty="0"/>
              <a:t>PTID-CDA-MAR-26-1371 </a:t>
            </a:r>
            <a:endParaRPr lang="en-US" sz="2000" b="1" dirty="0"/>
          </a:p>
          <a:p>
            <a:pPr algn="l"/>
            <a:r>
              <a:rPr lang="en-US" sz="2000" b="1" dirty="0">
                <a:solidFill>
                  <a:srgbClr val="FFFF00"/>
                </a:solidFill>
              </a:rPr>
              <a:t>Project code : </a:t>
            </a:r>
            <a:r>
              <a:rPr lang="en-US" sz="2000" b="1" dirty="0"/>
              <a:t>cdacl – 003</a:t>
            </a:r>
          </a:p>
          <a:p>
            <a:pPr algn="l"/>
            <a:r>
              <a:rPr lang="en-US" sz="2000" b="1" dirty="0">
                <a:solidFill>
                  <a:srgbClr val="FFFF00"/>
                </a:solidFill>
              </a:rPr>
              <a:t>Date : </a:t>
            </a:r>
            <a:r>
              <a:rPr lang="en-US" sz="2000" b="1" dirty="0"/>
              <a:t>20/04/2026</a:t>
            </a:r>
          </a:p>
        </p:txBody>
      </p:sp>
    </p:spTree>
    <p:extLst>
      <p:ext uri="{BB962C8B-B14F-4D97-AF65-F5344CB8AC3E}">
        <p14:creationId xmlns:p14="http://schemas.microsoft.com/office/powerpoint/2010/main" val="214231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  <a:noFill/>
        </p:spPr>
        <p:txBody>
          <a:bodyPr anchor="ctr">
            <a:noAutofit/>
          </a:bodyPr>
          <a:lstStyle/>
          <a:p>
            <a:r>
              <a:rPr lang="en-IN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2343" y="853333"/>
            <a:ext cx="5693228" cy="5151334"/>
          </a:xfrm>
          <a:noFill/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dirty="0"/>
              <a:t>Supply chain analysis helps improve business performance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dirty="0"/>
              <a:t>Focus on sales, inventory, delivery, and quality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dirty="0"/>
              <a:t>Dashboard created using Power BI </a:t>
            </a:r>
          </a:p>
        </p:txBody>
      </p:sp>
    </p:spTree>
    <p:extLst>
      <p:ext uri="{BB962C8B-B14F-4D97-AF65-F5344CB8AC3E}">
        <p14:creationId xmlns:p14="http://schemas.microsoft.com/office/powerpoint/2010/main" val="416955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E5A61B-F478-DE14-FD52-6A8963CE6CF6}"/>
              </a:ext>
            </a:extLst>
          </p:cNvPr>
          <p:cNvSpPr txBox="1"/>
          <p:nvPr/>
        </p:nvSpPr>
        <p:spPr>
          <a:xfrm>
            <a:off x="5807242" y="303961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+mj-lt"/>
              </a:rPr>
              <a:t>OBJECTIVES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CBF1F76-39FE-3F5E-AB36-BA9450ED23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7516" y="1012955"/>
            <a:ext cx="5518484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Analyze product performance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Evaluate inventory management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Study delivery efficiency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Assess supplier quality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Generate business insights 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  <a:noFill/>
        </p:spPr>
        <p:txBody>
          <a:bodyPr>
            <a:noAutofit/>
          </a:bodyPr>
          <a:lstStyle/>
          <a:p>
            <a:r>
              <a:rPr lang="en-IN" dirty="0"/>
              <a:t>TOOLS &amp; DATA SOURCE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228" y="853333"/>
            <a:ext cx="4997631" cy="5151334"/>
          </a:xfrm>
          <a:noFill/>
        </p:spPr>
        <p:txBody>
          <a:bodyPr>
            <a:normAutofit/>
          </a:bodyPr>
          <a:lstStyle/>
          <a:p>
            <a:r>
              <a:rPr lang="en-US" sz="3200" b="1" dirty="0"/>
              <a:t>Power BI – </a:t>
            </a:r>
            <a:r>
              <a:rPr lang="en-US" sz="3200" dirty="0"/>
              <a:t>Dashboard creation </a:t>
            </a:r>
          </a:p>
          <a:p>
            <a:r>
              <a:rPr lang="en-US" sz="3200" b="1" dirty="0"/>
              <a:t>phpMyAdmin – </a:t>
            </a:r>
            <a:r>
              <a:rPr lang="en-US" sz="3200" dirty="0"/>
              <a:t>Data extraction </a:t>
            </a:r>
          </a:p>
          <a:p>
            <a:r>
              <a:rPr lang="en-US" sz="3200" b="1" dirty="0"/>
              <a:t>CSV </a:t>
            </a:r>
            <a:r>
              <a:rPr lang="en-US" sz="3200" dirty="0"/>
              <a:t>– Data format 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686707"/>
          </a:xfrm>
          <a:noFill/>
        </p:spPr>
        <p:txBody>
          <a:bodyPr>
            <a:noAutofit/>
          </a:bodyPr>
          <a:lstStyle/>
          <a:p>
            <a:r>
              <a:rPr lang="en-IN" dirty="0"/>
              <a:t>DASHBOARD OVERVIEW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64711B4-4D47-A09C-53F5-54BF7076814A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900974" y="1540042"/>
            <a:ext cx="8390051" cy="47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914401"/>
            <a:ext cx="8783638" cy="1652336"/>
          </a:xfrm>
          <a:noFill/>
        </p:spPr>
        <p:txBody>
          <a:bodyPr>
            <a:noAutofit/>
          </a:bodyPr>
          <a:lstStyle/>
          <a:p>
            <a:pPr algn="l"/>
            <a:r>
              <a:rPr lang="en-IN" sz="4800" dirty="0"/>
              <a:t>OVERVIEW INSIGHTS</a:t>
            </a:r>
            <a:br>
              <a:rPr lang="en-IN" sz="4800" dirty="0"/>
            </a:br>
            <a:endParaRPr lang="en-US" sz="4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BF97CB-7578-9649-CFCB-0D50FF57EAC2}"/>
              </a:ext>
            </a:extLst>
          </p:cNvPr>
          <p:cNvSpPr txBox="1"/>
          <p:nvPr/>
        </p:nvSpPr>
        <p:spPr>
          <a:xfrm>
            <a:off x="1844843" y="1700463"/>
            <a:ext cx="864297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Revenue: 577.60K | Sales: 46K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Skincare → highest revenue &amp; sales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Cosmetics → highest shipping time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Mumbai &amp; Kolkata → top locations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Road &amp; Air → highest shipping cost 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5674F2-DD14-BB43-16A1-DE0690FE4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79F68-FE54-76FF-7418-456A46F30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686707"/>
          </a:xfrm>
          <a:noFill/>
        </p:spPr>
        <p:txBody>
          <a:bodyPr>
            <a:noAutofit/>
          </a:bodyPr>
          <a:lstStyle/>
          <a:p>
            <a:r>
              <a:rPr lang="en-IN" dirty="0"/>
              <a:t>SALES ANALYSIS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57BF2E6-F204-D90A-3F89-46B39B26015B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929526" y="1540042"/>
            <a:ext cx="8332946" cy="4697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220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88C2C5-2A41-4858-865F-BD407A2AD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AB6541-1D9D-81D2-F7AA-FBE818472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914401"/>
            <a:ext cx="8783638" cy="1652336"/>
          </a:xfrm>
          <a:noFill/>
        </p:spPr>
        <p:txBody>
          <a:bodyPr>
            <a:noAutofit/>
          </a:bodyPr>
          <a:lstStyle/>
          <a:p>
            <a:pPr algn="l"/>
            <a:r>
              <a:rPr lang="en-IN" sz="4800" dirty="0"/>
              <a:t>SALES ANALYSIS INSIGHTS</a:t>
            </a:r>
            <a:br>
              <a:rPr lang="en-IN" sz="4800" dirty="0"/>
            </a:br>
            <a:endParaRPr lang="en-US" sz="4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3FE70-C82F-788C-DCCC-5EC0935431D5}"/>
              </a:ext>
            </a:extLst>
          </p:cNvPr>
          <p:cNvSpPr txBox="1"/>
          <p:nvPr/>
        </p:nvSpPr>
        <p:spPr>
          <a:xfrm>
            <a:off x="1704181" y="1957137"/>
            <a:ext cx="878363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solidFill>
                  <a:schemeClr val="bg1"/>
                </a:solidFill>
              </a:rPr>
              <a:t>Skincare dominates sales &amp; revenue </a:t>
            </a:r>
          </a:p>
          <a:p>
            <a:endParaRPr lang="en-IN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solidFill>
                  <a:schemeClr val="bg1"/>
                </a:solidFill>
              </a:rPr>
              <a:t>Few SKUs drive most revenue </a:t>
            </a:r>
          </a:p>
          <a:p>
            <a:endParaRPr lang="en-IN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solidFill>
                  <a:schemeClr val="bg1"/>
                </a:solidFill>
              </a:rPr>
              <a:t>Mumbai &amp; Kolkata → strong markets</a:t>
            </a:r>
          </a:p>
          <a:p>
            <a:r>
              <a:rPr lang="en-IN" sz="2800" dirty="0">
                <a:solidFill>
                  <a:schemeClr val="bg1"/>
                </a:solidFill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solidFill>
                  <a:schemeClr val="bg1"/>
                </a:solidFill>
              </a:rPr>
              <a:t>Delhi → lowest performance </a:t>
            </a:r>
          </a:p>
        </p:txBody>
      </p:sp>
    </p:spTree>
    <p:extLst>
      <p:ext uri="{BB962C8B-B14F-4D97-AF65-F5344CB8AC3E}">
        <p14:creationId xmlns:p14="http://schemas.microsoft.com/office/powerpoint/2010/main" val="996541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381705-14D6-3B6A-5B22-4001F76A5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2D852-A171-1D99-3F1D-C32FB317C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686707"/>
          </a:xfrm>
          <a:noFill/>
        </p:spPr>
        <p:txBody>
          <a:bodyPr>
            <a:noAutofit/>
          </a:bodyPr>
          <a:lstStyle/>
          <a:p>
            <a:r>
              <a:rPr lang="en-IN" dirty="0"/>
              <a:t>INVENTORY ANALYSIS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61747A-6F39-F300-3AAF-B8EEBCCE1DB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794145" y="1455821"/>
            <a:ext cx="8603710" cy="490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381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0FFC7A-2BB3-0B1A-601F-40F3140FD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194E23-99D4-DBA2-31B5-7D7BB9A2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1"/>
            <a:ext cx="10646229" cy="1652336"/>
          </a:xfrm>
          <a:noFill/>
        </p:spPr>
        <p:txBody>
          <a:bodyPr>
            <a:noAutofit/>
          </a:bodyPr>
          <a:lstStyle/>
          <a:p>
            <a:pPr algn="l"/>
            <a:r>
              <a:rPr lang="en-IN" sz="4800" dirty="0"/>
              <a:t>INVENTORY ANALYSIS INSIGHTS</a:t>
            </a:r>
            <a:br>
              <a:rPr lang="en-IN" sz="4800" dirty="0"/>
            </a:br>
            <a:endParaRPr lang="en-US" sz="4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19B537-4D2F-FAD6-8EF5-B23099D06E74}"/>
              </a:ext>
            </a:extLst>
          </p:cNvPr>
          <p:cNvSpPr txBox="1"/>
          <p:nvPr/>
        </p:nvSpPr>
        <p:spPr>
          <a:xfrm>
            <a:off x="1876926" y="2140209"/>
            <a:ext cx="725504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76% → sufficient stock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24% → low stock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Skincare → highest demand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Haircare → highest stock levels </a:t>
            </a:r>
          </a:p>
        </p:txBody>
      </p:sp>
    </p:spTree>
    <p:extLst>
      <p:ext uri="{BB962C8B-B14F-4D97-AF65-F5344CB8AC3E}">
        <p14:creationId xmlns:p14="http://schemas.microsoft.com/office/powerpoint/2010/main" val="77562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AAD010-AF84-3FC0-048B-421DAAF8D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C61BB-A4A3-8363-2732-DC889D41D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686707"/>
          </a:xfrm>
          <a:noFill/>
        </p:spPr>
        <p:txBody>
          <a:bodyPr>
            <a:noAutofit/>
          </a:bodyPr>
          <a:lstStyle/>
          <a:p>
            <a:r>
              <a:rPr lang="en-IN" dirty="0"/>
              <a:t>DELIVERY ANALYSIS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200FA55-04BD-4E1C-DEEB-B1AFCCDA7B0E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rcRect l="4427" t="1714" r="1788" b="3276"/>
          <a:stretch>
            <a:fillRect/>
          </a:stretch>
        </p:blipFill>
        <p:spPr>
          <a:xfrm>
            <a:off x="2255453" y="1540042"/>
            <a:ext cx="8009775" cy="454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865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CE8FB-96D5-37A7-16FB-00A3E5482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8E1E54-FDA0-8C1C-441D-D0C898612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914401"/>
            <a:ext cx="9856448" cy="1652336"/>
          </a:xfrm>
          <a:noFill/>
        </p:spPr>
        <p:txBody>
          <a:bodyPr>
            <a:noAutofit/>
          </a:bodyPr>
          <a:lstStyle/>
          <a:p>
            <a:pPr algn="l"/>
            <a:r>
              <a:rPr lang="en-IN" sz="4800" dirty="0"/>
              <a:t>DELIVERY ANALYSIS INSIGHTS</a:t>
            </a:r>
            <a:br>
              <a:rPr lang="en-IN" sz="4800" dirty="0"/>
            </a:br>
            <a:endParaRPr lang="en-US" sz="4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60C78D-C966-1DCB-DC2E-288386307221}"/>
              </a:ext>
            </a:extLst>
          </p:cNvPr>
          <p:cNvSpPr txBox="1"/>
          <p:nvPr/>
        </p:nvSpPr>
        <p:spPr>
          <a:xfrm>
            <a:off x="1876926" y="2140209"/>
            <a:ext cx="725504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800" dirty="0">
                <a:solidFill>
                  <a:schemeClr val="bg1"/>
                </a:solidFill>
              </a:rPr>
              <a:t>Cosmetics → highest shipping time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Skincare → fastest delivery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Road → fastest transport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Sea → slowest but cheapest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Carrier B → highest cost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258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99132-786D-1802-0CA3-CA79DD1DE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FF59C-F0F6-0A56-DDBD-C7A8D90DB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686707"/>
          </a:xfrm>
          <a:noFill/>
        </p:spPr>
        <p:txBody>
          <a:bodyPr>
            <a:noAutofit/>
          </a:bodyPr>
          <a:lstStyle/>
          <a:p>
            <a:r>
              <a:rPr lang="en-IN" dirty="0"/>
              <a:t>QUALITY ANALYSIS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80B4F5-D0D1-BECB-0E02-B65D94857FA5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rcRect l="4205" t="1714" r="2269" b="5979"/>
          <a:stretch>
            <a:fillRect/>
          </a:stretch>
        </p:blipFill>
        <p:spPr>
          <a:xfrm>
            <a:off x="2148807" y="1452956"/>
            <a:ext cx="8220946" cy="455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637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6DAE5A-8003-9DDB-8BFB-99E5F4CC4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19EF1C-EA71-4771-017D-0AF65DE64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914401"/>
            <a:ext cx="9856448" cy="1652336"/>
          </a:xfrm>
          <a:noFill/>
        </p:spPr>
        <p:txBody>
          <a:bodyPr>
            <a:noAutofit/>
          </a:bodyPr>
          <a:lstStyle/>
          <a:p>
            <a:pPr algn="l"/>
            <a:r>
              <a:rPr lang="en-IN" sz="4800" dirty="0"/>
              <a:t>QUALITY ANALYSIS INSIGHTS</a:t>
            </a:r>
            <a:br>
              <a:rPr lang="en-IN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A0E988-60BE-334F-549A-15FA40CA347C}"/>
              </a:ext>
            </a:extLst>
          </p:cNvPr>
          <p:cNvSpPr txBox="1"/>
          <p:nvPr/>
        </p:nvSpPr>
        <p:spPr>
          <a:xfrm>
            <a:off x="1876925" y="1819368"/>
            <a:ext cx="770021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Supplier C → highest defect rate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Supplier B → best quality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Higher cost ≠ better quality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High pending &amp; failed inspections </a:t>
            </a:r>
          </a:p>
        </p:txBody>
      </p:sp>
    </p:spTree>
    <p:extLst>
      <p:ext uri="{BB962C8B-B14F-4D97-AF65-F5344CB8AC3E}">
        <p14:creationId xmlns:p14="http://schemas.microsoft.com/office/powerpoint/2010/main" val="1703814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0A9CA9-58EC-C5B0-6020-AFA45913D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BA55C-EA4E-564D-9E68-97CC8BBBC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  <a:noFill/>
        </p:spPr>
        <p:txBody>
          <a:bodyPr>
            <a:noAutofit/>
          </a:bodyPr>
          <a:lstStyle/>
          <a:p>
            <a:r>
              <a:rPr lang="en-IN" dirty="0"/>
              <a:t>KEY INSIGHTS</a:t>
            </a: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E1521CC-008F-F21F-AFC8-ADFF55D4F8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1" y="1310999"/>
            <a:ext cx="564682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Skincare is top-performing product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mostly stable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Delivery varies by product &amp; transport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Supplier performance differs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and quality are not directly related </a:t>
            </a:r>
          </a:p>
        </p:txBody>
      </p:sp>
    </p:spTree>
    <p:extLst>
      <p:ext uri="{BB962C8B-B14F-4D97-AF65-F5344CB8AC3E}">
        <p14:creationId xmlns:p14="http://schemas.microsoft.com/office/powerpoint/2010/main" val="1412747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A26DBC-6780-2B4A-1CEC-42A6127D5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0E515-4DF8-8C5D-702C-3B615FAC3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  <a:noFill/>
        </p:spPr>
        <p:txBody>
          <a:bodyPr>
            <a:noAutofit/>
          </a:bodyPr>
          <a:lstStyle/>
          <a:p>
            <a:r>
              <a:rPr lang="en-IN" dirty="0"/>
              <a:t>RECOMMENDATIONS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8E64E70-3BB0-5415-AF2D-E5C7F7710E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1040627"/>
            <a:ext cx="585536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skincare products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cosmetics delivery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inventory planning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cost-effective transport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Prefer high-quality suppliers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inspection process </a:t>
            </a:r>
          </a:p>
        </p:txBody>
      </p:sp>
    </p:spTree>
    <p:extLst>
      <p:ext uri="{BB962C8B-B14F-4D97-AF65-F5344CB8AC3E}">
        <p14:creationId xmlns:p14="http://schemas.microsoft.com/office/powerpoint/2010/main" val="1097974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262972-B500-15AF-48A5-2B7FF515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21A13-D93B-B176-8CCC-8C6F5CC10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  <a:noFill/>
        </p:spPr>
        <p:txBody>
          <a:bodyPr>
            <a:noAutofit/>
          </a:bodyPr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4F26179-9A4F-395C-62A8-7D600D6C7F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82343" y="1268184"/>
            <a:ext cx="6269025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Dashboard provides clear supply chain insights </a:t>
            </a:r>
          </a:p>
          <a:p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Identifies key issues in delivery &amp; quality </a:t>
            </a:r>
          </a:p>
          <a:p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Helps improve decision-making</a:t>
            </a:r>
          </a:p>
          <a:p>
            <a:r>
              <a:rPr lang="en-US" sz="2400" b="1" dirty="0"/>
              <a:t>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Supports business growth through data analysis</a:t>
            </a:r>
          </a:p>
        </p:txBody>
      </p:sp>
    </p:spTree>
    <p:extLst>
      <p:ext uri="{BB962C8B-B14F-4D97-AF65-F5344CB8AC3E}">
        <p14:creationId xmlns:p14="http://schemas.microsoft.com/office/powerpoint/2010/main" val="2140793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505" y="2200580"/>
            <a:ext cx="8682990" cy="2230802"/>
          </a:xfrm>
          <a:noFill/>
        </p:spPr>
        <p:txBody>
          <a:bodyPr anchor="ctr">
            <a:noAutofit/>
          </a:bodyPr>
          <a:lstStyle/>
          <a:p>
            <a:r>
              <a:rPr lang="en-US" noProof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1538537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69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E69F9A"/>
      </a:accent1>
      <a:accent2>
        <a:srgbClr val="C38C44"/>
      </a:accent2>
      <a:accent3>
        <a:srgbClr val="B32752"/>
      </a:accent3>
      <a:accent4>
        <a:srgbClr val="F5BF77"/>
      </a:accent4>
      <a:accent5>
        <a:srgbClr val="BDBB78"/>
      </a:accent5>
      <a:accent6>
        <a:srgbClr val="9FCDC6"/>
      </a:accent6>
      <a:hlink>
        <a:srgbClr val="F7B615"/>
      </a:hlink>
      <a:folHlink>
        <a:srgbClr val="704404"/>
      </a:folHlink>
    </a:clrScheme>
    <a:fontScheme name="Custom 190">
      <a:majorFont>
        <a:latin typeface="DM Serif Display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TM88997677_win32_LW_V2" id="{A337E98B-B78A-4478-A7B4-5BC118FBE473}" vid="{BFD76E1B-16BC-4706-8DD0-46BF66D357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6A71AF-4CF2-4B95-BFB6-5C27500258C6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230e9df3-be65-4c73-a93b-d1236ebd677e"/>
    <ds:schemaRef ds:uri="71af3243-3dd4-4a8d-8c0d-dd76da1f02a5"/>
    <ds:schemaRef ds:uri="16c05727-aa75-4e4a-9b5f-8a80a1165891"/>
    <ds:schemaRef ds:uri="http://schemas.microsoft.com/sharepoint/v3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18B1F56-8983-41A9-8E90-86247BC2C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60B100-7079-4DE7-AF7C-20BFB1D62C4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Rose suite presentation</Template>
  <TotalTime>97</TotalTime>
  <Words>305</Words>
  <Application>Microsoft Office PowerPoint</Application>
  <PresentationFormat>Widescreen</PresentationFormat>
  <Paragraphs>108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DM Serif Display</vt:lpstr>
      <vt:lpstr>Source Sans Pro</vt:lpstr>
      <vt:lpstr>Wingdings</vt:lpstr>
      <vt:lpstr>Custom</vt:lpstr>
      <vt:lpstr>Supply Chain Analysis-Power BI</vt:lpstr>
      <vt:lpstr>INTRODUCTION</vt:lpstr>
      <vt:lpstr> Analyze product performance   Evaluate inventory management   Study delivery efficiency   Assess supplier quality   Generate business insights </vt:lpstr>
      <vt:lpstr>TOOLS &amp; DATA SOURCE</vt:lpstr>
      <vt:lpstr>DASHBOARD OVERVIEW</vt:lpstr>
      <vt:lpstr>OVERVIEW INSIGHTS </vt:lpstr>
      <vt:lpstr>SALES ANALYSIS</vt:lpstr>
      <vt:lpstr>SALES ANALYSIS INSIGHTS </vt:lpstr>
      <vt:lpstr>INVENTORY ANALYSIS</vt:lpstr>
      <vt:lpstr>INVENTORY ANALYSIS INSIGHTS </vt:lpstr>
      <vt:lpstr>DELIVERY ANALYSIS</vt:lpstr>
      <vt:lpstr>DELIVERY ANALYSIS INSIGHTS </vt:lpstr>
      <vt:lpstr>QUALITY ANALYSIS</vt:lpstr>
      <vt:lpstr>QUALITY ANALYSIS INSIGHTS </vt:lpstr>
      <vt:lpstr>KEY INSIGHTS</vt:lpstr>
      <vt:lpstr>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Jeni helan</dc:creator>
  <cp:lastModifiedBy>Jeni helan</cp:lastModifiedBy>
  <cp:revision>6</cp:revision>
  <dcterms:created xsi:type="dcterms:W3CDTF">2026-04-19T11:59:25Z</dcterms:created>
  <dcterms:modified xsi:type="dcterms:W3CDTF">2026-04-19T13:38:35Z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